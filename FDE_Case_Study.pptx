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36576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2A4A7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FDE 模式与 AI 落地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A4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前端部署工程师 —— AI 时代的最后一公里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2743200" cy="18288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圆桌会议纪要分享 · 2026年5月29日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"AI知声" 圆桌会讨论  ·  林琦（Rachel）等分享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  录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828800" cy="18288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5029200" cy="822960"/>
          </a:xfrm>
          <a:prstGeom prst="rect">
            <a:avLst>
              <a:gd name="adj" fmla="val 5556"/>
            </a:avLst>
          </a:prstGeom>
          <a:solidFill>
            <a:srgbClr val="E4E8E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0876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50876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FDE 岗位起源与演进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029200" cy="822960"/>
          </a:xfrm>
          <a:prstGeom prst="rect">
            <a:avLst>
              <a:gd name="adj" fmla="val 5556"/>
            </a:avLst>
          </a:prstGeom>
          <a:solidFill>
            <a:srgbClr val="E4E8E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50876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040880" y="150876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FDE 与相关岗位的对比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5029200" cy="822960"/>
          </a:xfrm>
          <a:prstGeom prst="rect">
            <a:avLst>
              <a:gd name="adj" fmla="val 5556"/>
            </a:avLst>
          </a:prstGeom>
          <a:solidFill>
            <a:srgbClr val="E4E8E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60604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260604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FDE 实战案例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2560320"/>
            <a:ext cx="5029200" cy="822960"/>
          </a:xfrm>
          <a:prstGeom prst="rect">
            <a:avLst>
              <a:gd name="adj" fmla="val 5556"/>
            </a:avLst>
          </a:prstGeom>
          <a:solidFill>
            <a:srgbClr val="E4E8E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60604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40880" y="260604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FDE 模式在中国的现状与机会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3657600"/>
            <a:ext cx="5029200" cy="822960"/>
          </a:xfrm>
          <a:prstGeom prst="rect">
            <a:avLst>
              <a:gd name="adj" fmla="val 5556"/>
            </a:avLst>
          </a:prstGeom>
          <a:solidFill>
            <a:srgbClr val="E4E8EC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7033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37033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落地的组织问题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0" y="3657600"/>
            <a:ext cx="5029200" cy="822960"/>
          </a:xfrm>
          <a:prstGeom prst="rect">
            <a:avLst>
              <a:gd name="adj" fmla="val 5556"/>
            </a:avLst>
          </a:prstGeom>
          <a:solidFill>
            <a:srgbClr val="E4E8E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37033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40880" y="37033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FDE 模式的应用建议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1520" y="4754880"/>
            <a:ext cx="5029200" cy="822960"/>
          </a:xfrm>
          <a:prstGeom prst="rect">
            <a:avLst>
              <a:gd name="adj" fmla="val 5556"/>
            </a:avLst>
          </a:prstGeom>
          <a:solidFill>
            <a:srgbClr val="E4E8EC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8006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54480" y="48006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个人职业发展与转型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7920" y="4754880"/>
            <a:ext cx="5029200" cy="822960"/>
          </a:xfrm>
          <a:prstGeom prst="rect">
            <a:avLst>
              <a:gd name="adj" fmla="val 5556"/>
            </a:avLst>
          </a:prstGeom>
          <a:solidFill>
            <a:srgbClr val="E4E8EC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8006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40880" y="48006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业务案例与商业洞察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36576" cy="1645920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731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11887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FDE 岗位起源与演进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 Palantir Delta 到 AI 时代的 Forward Deployed Engineer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5029200" cy="1828800"/>
          </a:xfrm>
          <a:prstGeom prst="rect">
            <a:avLst>
              <a:gd name="adj" fmla="val 3000"/>
            </a:avLst>
          </a:prstGeom>
          <a:solidFill>
            <a:srgbClr val="E4E8EC"/>
          </a:solidFill>
          <a:ln w="3810">
            <a:solidFill>
              <a:srgbClr val="2A4A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4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2011 · 岗位诞生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Palantir 发明了 FDE 模式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前端部署工程师驻场客户现场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核心目标：让客户用好产品并产生结果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2743200"/>
            <a:ext cx="5212080" cy="1828800"/>
          </a:xfrm>
          <a:prstGeom prst="rect">
            <a:avLst>
              <a:gd name="adj" fmla="val 3000"/>
            </a:avLst>
          </a:prstGeom>
          <a:solidFill>
            <a:srgbClr val="E4E8EC"/>
          </a:solidFill>
          <a:ln w="3810">
            <a:solidFill>
              <a:srgbClr val="0A1F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834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 · 规模爆发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3291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 Delta 群体数量超过后端产品工程师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FDE 模式被验证为可规模化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846320"/>
            <a:ext cx="10789920" cy="1371600"/>
          </a:xfrm>
          <a:prstGeom prst="rect">
            <a:avLst>
              <a:gd name="adj" fmla="val 4000"/>
            </a:avLst>
          </a:prstGeom>
          <a:solidFill>
            <a:srgbClr val="E4E8EC"/>
          </a:solidFill>
          <a:ln w="3810">
            <a:solidFill>
              <a:srgbClr val="0A1F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9377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 · AI 时代新应用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53949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OpenAI、Scale AI 等大模型公司借鉴 FDE 模式用于大模型的企业级部署。FDE 成为连接 AI 能力与商业价值的核心角色。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36576" cy="1645920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731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11887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FDE 与相关岗位的对比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FDE ≠ 售前工程师 ≠ 实施顾问 ≠ 产品工程师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2651760" cy="3474720"/>
          </a:xfrm>
          <a:prstGeom prst="rect">
            <a:avLst>
              <a:gd name="adj" fmla="val 2069"/>
            </a:avLst>
          </a:prstGeom>
          <a:solidFill>
            <a:srgbClr val="E4E8EC"/>
          </a:solidFill>
          <a:ln w="3810">
            <a:solidFill>
              <a:srgbClr val="4A6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售前工程师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核心能力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611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通才，能讲清产品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114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 KPI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4343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将产品卖给公司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846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工作边界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5074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签单即结束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11880" y="2743200"/>
            <a:ext cx="2651760" cy="3474720"/>
          </a:xfrm>
          <a:prstGeom prst="rect">
            <a:avLst>
              <a:gd name="adj" fmla="val 2069"/>
            </a:avLst>
          </a:prstGeom>
          <a:solidFill>
            <a:srgbClr val="E4E8EC"/>
          </a:solidFill>
          <a:ln w="3810">
            <a:solidFill>
              <a:srgbClr val="4A6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实施顾问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794760" y="33832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核心能力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94760" y="3611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按需求交付项目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94760" y="4114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 KPI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94760" y="4343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完成项目交付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94760" y="4846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工作边界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94760" y="5074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交付完成即离场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92240" y="2743200"/>
            <a:ext cx="2651760" cy="3474720"/>
          </a:xfrm>
          <a:prstGeom prst="rect">
            <a:avLst>
              <a:gd name="adj" fmla="val 2069"/>
            </a:avLst>
          </a:prstGeom>
          <a:solidFill>
            <a:srgbClr val="E4E8EC"/>
          </a:solidFill>
          <a:ln w="3810">
            <a:solidFill>
              <a:srgbClr val="0A1F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675120" y="33832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核心能力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75120" y="3611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技术出身，架构+代码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75120" y="4114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 KPI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75120" y="4343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客户采纳率和最终结果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75120" y="4846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工作边界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75120" y="5074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持续跟进直到客户成功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372600" y="2743200"/>
            <a:ext cx="2651760" cy="3474720"/>
          </a:xfrm>
          <a:prstGeom prst="rect">
            <a:avLst>
              <a:gd name="adj" fmla="val 2069"/>
            </a:avLst>
          </a:prstGeom>
          <a:solidFill>
            <a:srgbClr val="E4E8EC"/>
          </a:solidFill>
          <a:ln w="3810">
            <a:solidFill>
              <a:srgbClr val="4A6A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5548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产品工程师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555480" y="33832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核心能力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555480" y="3611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技术深度最深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555480" y="4114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 KPI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555480" y="4343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产品功能迭代优化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555480" y="4846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工作边界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555480" y="5074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总部 IDE 工作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36576" cy="1645920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731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11887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FDE 的独特定位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"让客户真正用好产品" 的最后一公里工程师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10789920" cy="731520"/>
          </a:xfrm>
          <a:prstGeom prst="rect">
            <a:avLst>
              <a:gd name="adj" fmla="val 7500"/>
            </a:avLst>
          </a:prstGeom>
          <a:solidFill>
            <a:srgbClr val="E4E8EC"/>
          </a:solidFill>
          <a:ln w="3810">
            <a:solidFill>
              <a:srgbClr val="0A1F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743200"/>
            <a:ext cx="36576" cy="731520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788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技术能力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4720" y="27889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架构设计、现场写代码、解决复杂技术问题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611880"/>
            <a:ext cx="10789920" cy="731520"/>
          </a:xfrm>
          <a:prstGeom prst="rect">
            <a:avLst>
              <a:gd name="adj" fmla="val 7500"/>
            </a:avLst>
          </a:prstGeom>
          <a:solidFill>
            <a:srgbClr val="E4E8EC"/>
          </a:solidFill>
          <a:ln w="3810">
            <a:solidFill>
              <a:srgbClr val="0A1F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611880"/>
            <a:ext cx="36576" cy="731520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657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沟通能力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36576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理解客户商业问题，翻译成技术方案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480560"/>
            <a:ext cx="10789920" cy="731520"/>
          </a:xfrm>
          <a:prstGeom prst="rect">
            <a:avLst>
              <a:gd name="adj" fmla="val 7500"/>
            </a:avLst>
          </a:prstGeom>
          <a:solidFill>
            <a:srgbClr val="E4E8EC"/>
          </a:solidFill>
          <a:ln w="3810">
            <a:solidFill>
              <a:srgbClr val="0A1F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80560"/>
            <a:ext cx="36576" cy="731520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526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结果导向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74720" y="4526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为客户采纳率和最终业务结果负责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5349240"/>
            <a:ext cx="10789920" cy="731520"/>
          </a:xfrm>
          <a:prstGeom prst="rect">
            <a:avLst>
              <a:gd name="adj" fmla="val 7500"/>
            </a:avLst>
          </a:prstGeom>
          <a:solidFill>
            <a:srgbClr val="E4E8EC"/>
          </a:solidFill>
          <a:ln w="3810">
            <a:solidFill>
              <a:srgbClr val="0A1F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5349240"/>
            <a:ext cx="36576" cy="731520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5394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综合能力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474720" y="53949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兼具深度与广度，适应客户多变环境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36576" cy="1645920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731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11887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FDE 实战案例一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摩根士丹利 — 从信任危机到 98% 采纳率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5029200" cy="1188720"/>
          </a:xfrm>
          <a:prstGeom prst="rect">
            <a:avLst>
              <a:gd name="adj" fmla="val 4615"/>
            </a:avLst>
          </a:prstGeom>
          <a:solidFill>
            <a:srgbClr val="E4E8EC"/>
          </a:solidFill>
          <a:ln w="3810">
            <a:solidFill>
              <a:srgbClr val="2A4A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788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4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需求背景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为财富顾问从繁杂数据中提取有价值信息，辅助投资决策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2743200"/>
            <a:ext cx="5212080" cy="1188720"/>
          </a:xfrm>
          <a:prstGeom prst="rect">
            <a:avLst>
              <a:gd name="adj" fmla="val 4615"/>
            </a:avLst>
          </a:prstGeom>
          <a:solidFill>
            <a:srgbClr val="E4E8EC"/>
          </a:solidFill>
          <a:ln w="3810">
            <a:solidFill>
              <a:srgbClr val="0A1F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788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技术解决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31546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仅用 6-8 周完成技术方案，AI 快速提取和呈现关键数据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10789920" cy="2560320"/>
          </a:xfrm>
          <a:prstGeom prst="rect">
            <a:avLst>
              <a:gd name="adj" fmla="val 2143"/>
            </a:avLst>
          </a:prstGeom>
          <a:solidFill>
            <a:srgbClr val="E4E8EC"/>
          </a:solidFill>
          <a:ln w="3810">
            <a:solidFill>
              <a:srgbClr val="0A1F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062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关键挑战：建立信任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46634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因组织内部信任问题，花了 4 个月时间通过以下方式建立信任：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50292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深度分析客户需求，理解业务痛点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53492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亲自做数据标注，展示技术落地能力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566928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反复迭代原型，让客户看到实际效果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61264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4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最终成果：采纳率达 98%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36576" cy="1645920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731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11887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FDE 实战案例二 &amp; 三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欧洲半导体公司 &amp; 汽车供应链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5029200" cy="3566160"/>
          </a:xfrm>
          <a:prstGeom prst="rect">
            <a:avLst>
              <a:gd name="adj" fmla="val 1538"/>
            </a:avLst>
          </a:prstGeom>
          <a:solidFill>
            <a:srgbClr val="E4E8EC"/>
          </a:solidFill>
          <a:ln w="3810">
            <a:solidFill>
              <a:srgbClr val="2A4A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834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4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欧洲半导体公司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发现问题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FDE 深入研究芯片验证工程师行为，发现他们近 80% 时间花在修 bug 和兼容流恢复上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1148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解决方案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4343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从该痛点入手，用 AI 自动化 bug 修复和兼容性恢复流程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5029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4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成果：释放近 30% 效率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2743200"/>
            <a:ext cx="5212080" cy="3566160"/>
          </a:xfrm>
          <a:prstGeom prst="rect">
            <a:avLst>
              <a:gd name="adj" fmla="val 1538"/>
            </a:avLst>
          </a:prstGeom>
          <a:solidFill>
            <a:srgbClr val="E4E8EC"/>
          </a:solidFill>
          <a:ln w="3810">
            <a:solidFill>
              <a:srgbClr val="0A1F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8346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汽车供应链企业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0" y="329184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关键动作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3520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FDE 到现场深入业务流程，逐一梳理：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3931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哪些问题需写代码解决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4251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哪些问题可通过 AI 处理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哪些问题需要流程改造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502920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启示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53035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落地的关键是深入业务流程，而非远程交付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36576" cy="1645920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731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11887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FDE 模式在中国的现状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 FDE 模式在中国还未跑通？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5029200" cy="2560320"/>
          </a:xfrm>
          <a:prstGeom prst="rect">
            <a:avLst>
              <a:gd name="adj" fmla="val 2143"/>
            </a:avLst>
          </a:prstGeom>
          <a:solidFill>
            <a:srgbClr val="E4E8EC"/>
          </a:solidFill>
          <a:ln w="3810">
            <a:solidFill>
              <a:srgbClr val="0A1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付费模式差异：美国按结果付费，中国以工时计费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招投标制度与价格战，接受高成本存疑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模型成熟度差距，与美国存在时间差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663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对模型商业化关注度不够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743200"/>
            <a:ext cx="5212080" cy="2560320"/>
          </a:xfrm>
          <a:prstGeom prst="rect">
            <a:avLst>
              <a:gd name="adj" fmla="val 2143"/>
            </a:avLst>
          </a:prstGeom>
          <a:solidFill>
            <a:srgbClr val="E4E8EC"/>
          </a:solidFill>
          <a:ln w="3810">
            <a:solidFill>
              <a:srgbClr val="2A4A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834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4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机会与趋势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3291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上海已将相关内容写入三年行动方案（政策利好）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3749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未来 2-3 年需要一批人解决 AI 从实验室到商业落地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4206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大模型公司开始重视企业级部署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4663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企业对 AI 落地的需求持续增长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5486400"/>
            <a:ext cx="10789920" cy="4572"/>
          </a:xfrm>
          <a:prstGeom prst="rect">
            <a:avLst/>
          </a:prstGeom>
          <a:solidFill>
            <a:srgbClr val="2A4A7F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4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窗口期已至：技术平权 + 政策推动 = FDE 模式在中国的最佳入场时机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36576" cy="1645920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731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11887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落地的组织问题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落地的最后一公里，是组织问题" — 林琦（Rachel）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6858000" cy="1371600"/>
          </a:xfrm>
          <a:prstGeom prst="rect">
            <a:avLst>
              <a:gd name="adj" fmla="val 4000"/>
            </a:avLst>
          </a:prstGeom>
          <a:solidFill>
            <a:srgbClr val="E4E8EC"/>
          </a:solidFill>
          <a:ln w="3810">
            <a:solidFill>
              <a:srgbClr val="0A1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834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核心观点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代表新生产力，但企业内部流程、文化、信任、激励机制未准备好。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技术不是瓶颈，组织变革才是。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0" y="2743200"/>
            <a:ext cx="3474720" cy="1371600"/>
          </a:xfrm>
          <a:prstGeom prst="rect">
            <a:avLst>
              <a:gd name="adj" fmla="val 4000"/>
            </a:avLst>
          </a:prstGeom>
          <a:solidFill>
            <a:srgbClr val="E4E8EC"/>
          </a:solidFill>
          <a:ln w="3810">
            <a:solidFill>
              <a:srgbClr val="2A4A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0" y="28346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4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0" y="32004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埃森哲报告：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的 AI 项目失败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核心原因是组织问题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297680"/>
            <a:ext cx="10789920" cy="2286000"/>
          </a:xfrm>
          <a:prstGeom prst="rect">
            <a:avLst>
              <a:gd name="adj" fmla="val 2400"/>
            </a:avLst>
          </a:prstGeom>
          <a:solidFill>
            <a:srgbClr val="E4E8EC"/>
          </a:solidFill>
          <a:ln w="3810">
            <a:solidFill>
              <a:srgbClr val="0A1F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38912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解决路径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4754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❶ 做出原型解决信任问题 — 让用户看到实际效果，建立信心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5120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❷ 培养"翻译型人才" — 既懂业务又懂技术的复合型人才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54864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❸ 一把手推动组织变革 — 麦肯锡/BCG 强调高管认知是关键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58521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❹ 重新设计工作流 — 让 AI 融入而非替代现有流程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36576" cy="1645920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731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11887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咨询公司如何看待 AI 落地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麦肯锡 / BCG / 埃森哲的观察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3383280" cy="3200400"/>
          </a:xfrm>
          <a:prstGeom prst="rect">
            <a:avLst>
              <a:gd name="adj" fmla="val 1714"/>
            </a:avLst>
          </a:prstGeom>
          <a:solidFill>
            <a:srgbClr val="E4E8EC"/>
          </a:solidFill>
          <a:ln w="3810">
            <a:solidFill>
              <a:srgbClr val="2A4A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834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4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麦肯锡 &amp; BCG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战略咨询公司角度：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跟踪 AI 最新进展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强调一把手认知的重要性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组织变革是 AI 成功的前提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新模式创新需要顶层设计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2743200"/>
            <a:ext cx="3383280" cy="3200400"/>
          </a:xfrm>
          <a:prstGeom prst="rect">
            <a:avLst>
              <a:gd name="adj" fmla="val 1714"/>
            </a:avLst>
          </a:prstGeom>
          <a:solidFill>
            <a:srgbClr val="E4E8EC"/>
          </a:solidFill>
          <a:ln w="3810">
            <a:solidFill>
              <a:srgbClr val="2A4A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834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4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埃森哲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338328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技术落地公司角度：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95% AI 项目失败源于组织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工作流未重新设计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员工信任不足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缺乏激励机制配套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2743200"/>
            <a:ext cx="3383280" cy="3200400"/>
          </a:xfrm>
          <a:prstGeom prst="rect">
            <a:avLst>
              <a:gd name="adj" fmla="val 1714"/>
            </a:avLst>
          </a:prstGeom>
          <a:solidFill>
            <a:srgbClr val="E4E8EC"/>
          </a:solidFill>
          <a:ln w="3810">
            <a:solidFill>
              <a:srgbClr val="0A1F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834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共同结论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0" y="338328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的成功公式：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技术 × 组织 × 人才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三者缺一不可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FDE 正是连接这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三者的关键角色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36576" cy="1645920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731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11887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FDE 模式的应用建议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乙方 vs 甲方 vs 通用建议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3383280" cy="3474720"/>
          </a:xfrm>
          <a:prstGeom prst="rect">
            <a:avLst>
              <a:gd name="adj" fmla="val 1622"/>
            </a:avLst>
          </a:prstGeom>
          <a:solidFill>
            <a:srgbClr val="E4E8EC"/>
          </a:solidFill>
          <a:ln w="3810">
            <a:solidFill>
              <a:srgbClr val="2A4A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8346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4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通用原则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有真实业务场景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需要高管推动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有可量化衡量指标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产品非标准化时适用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FDE 不是售前工程师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不对收入负责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2743200"/>
            <a:ext cx="3383280" cy="3474720"/>
          </a:xfrm>
          <a:prstGeom prst="rect">
            <a:avLst>
              <a:gd name="adj" fmla="val 1622"/>
            </a:avLst>
          </a:prstGeom>
          <a:solidFill>
            <a:srgbClr val="E4E8EC"/>
          </a:solidFill>
          <a:ln w="3810">
            <a:solidFill>
              <a:srgbClr val="0A1F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8346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乙方视角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333756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客户部署为核心壁垒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引入 FDE 释放精力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产品实施落地困难时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缝补差距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通过 FDE 积累经验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反哺产品开发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2743200"/>
            <a:ext cx="3383280" cy="3474720"/>
          </a:xfrm>
          <a:prstGeom prst="rect">
            <a:avLst>
              <a:gd name="adj" fmla="val 1622"/>
            </a:avLst>
          </a:prstGeom>
          <a:solidFill>
            <a:srgbClr val="E4E8EC"/>
          </a:solidFill>
          <a:ln w="3810">
            <a:solidFill>
              <a:srgbClr val="2A4A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8346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4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甲方视角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0" y="333756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中国缺乏外部供应商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可内部培养 FDE 人才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充当业务和技术的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"翻译官"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培养"翻译型人才"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是核心战略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36576" cy="1645920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731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11887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个人职业发展与转型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FDE 适合什么样的人？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5029200" cy="1463040"/>
          </a:xfrm>
          <a:prstGeom prst="rect">
            <a:avLst>
              <a:gd name="adj" fmla="val 3750"/>
            </a:avLst>
          </a:prstGeom>
          <a:solidFill>
            <a:srgbClr val="E4E8EC"/>
          </a:solidFill>
          <a:ln w="3810">
            <a:solidFill>
              <a:srgbClr val="2A4A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4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适合转型的人群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寻求业务感的技术人 — 厌倦纯 IDE，想解决真实商业问题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技术背景的顾问 — 解决方案架构师转型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886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创业者 — 与创业背景天然契合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743200"/>
            <a:ext cx="5212080" cy="1463040"/>
          </a:xfrm>
          <a:prstGeom prst="rect">
            <a:avLst>
              <a:gd name="adj" fmla="val 3750"/>
            </a:avLst>
          </a:prstGeom>
          <a:solidFill>
            <a:srgbClr val="E4E8EC"/>
          </a:solidFill>
          <a:ln w="3810">
            <a:solidFill>
              <a:srgbClr val="0A1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834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核心特质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324612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反叛者心态 — 喜欢挑战现状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352044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容忍模糊性 — 在模糊环境中理解需求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379476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同理心 — 看到用户真实痛点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40690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技术能力 — 将代码变成现实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480560"/>
            <a:ext cx="10789920" cy="2011680"/>
          </a:xfrm>
          <a:prstGeom prst="rect">
            <a:avLst>
              <a:gd name="adj" fmla="val 2727"/>
            </a:avLst>
          </a:prstGeom>
          <a:solidFill>
            <a:srgbClr val="E4E8EC"/>
          </a:solidFill>
          <a:ln w="3810">
            <a:solidFill>
              <a:srgbClr val="0A1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57200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发展路径建议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4983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❶ 前期：夯实工程能力 — 初入职场先打好技术基础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5349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❷ 中期：结合业务场景 — 利用公司资源在具体场景中积累经验（搓 agent、写提示词）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57150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❸ 长远：培养翻译能力 — 既懂业务又懂技术的复合型人才将越来越稀缺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36576" cy="1645920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731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11887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业务案例与商业洞察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来自圆桌会的实战分享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5029200" cy="3474720"/>
          </a:xfrm>
          <a:prstGeom prst="rect">
            <a:avLst>
              <a:gd name="adj" fmla="val 1579"/>
            </a:avLst>
          </a:prstGeom>
          <a:solidFill>
            <a:srgbClr val="E4E8EC"/>
          </a:solidFill>
          <a:ln w="3810">
            <a:solidFill>
              <a:srgbClr val="2A4A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834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4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刘伟煌 — AI 落地服务商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从自动化投递求职起步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通过准备作品集挖掘客户需求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069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为商户打造品牌网站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434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从 1000 元定金到 3-5 万元订单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800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建议：运营小红书，打造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5166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"AI 落地教练" 个人IP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743200"/>
            <a:ext cx="5212080" cy="3474720"/>
          </a:xfrm>
          <a:prstGeom prst="rect">
            <a:avLst>
              <a:gd name="adj" fmla="val 1579"/>
            </a:avLst>
          </a:prstGeom>
          <a:solidFill>
            <a:srgbClr val="E4E8EC"/>
          </a:solidFill>
          <a:ln w="3810">
            <a:solidFill>
              <a:srgbClr val="0A1F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8346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朱书杰 — AI 编剧工具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3337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河南大三学生，AI 写剧本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37033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团队月流水达 17 万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4069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基米律动：高效拆解长视频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44348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售价 1 元/分钟，成本 0.4 元/分钟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48006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建议：做成 Codex Skill 而非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51663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SaaS/EXE，防止盗版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36576" cy="1645920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731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11887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商业洞察：信息差的战略价值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佳福农场（周总）分享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10789920" cy="1371600"/>
          </a:xfrm>
          <a:prstGeom prst="rect">
            <a:avLst>
              <a:gd name="adj" fmla="val 4000"/>
            </a:avLst>
          </a:prstGeom>
          <a:solidFill>
            <a:srgbClr val="E4E8EC"/>
          </a:solidFill>
          <a:ln w="3810">
            <a:solidFill>
              <a:srgbClr val="2A4A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83464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4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信息差 = 商业护城河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通过抖音电商种草热点日历获取平台热点信息，利用巨量千川账户进行广告投放测试，以低成本获取客户。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4389120"/>
            <a:ext cx="5029200" cy="2011680"/>
          </a:xfrm>
          <a:prstGeom prst="rect">
            <a:avLst>
              <a:gd name="adj" fmla="val 2727"/>
            </a:avLst>
          </a:prstGeom>
          <a:solidFill>
            <a:srgbClr val="E4E8EC"/>
          </a:solidFill>
          <a:ln w="3810">
            <a:solidFill>
              <a:srgbClr val="0A1F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480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热点与需求的关系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8920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先有热点 → 从产品中挖掘需求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而非先有需求再找热点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花钱买信息差比纯技术更重要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4389120"/>
            <a:ext cx="5212080" cy="2011680"/>
          </a:xfrm>
          <a:prstGeom prst="rect">
            <a:avLst>
              <a:gd name="adj" fmla="val 2727"/>
            </a:avLst>
          </a:prstGeom>
          <a:solidFill>
            <a:srgbClr val="E4E8EC"/>
          </a:solidFill>
          <a:ln w="3810">
            <a:solidFill>
              <a:srgbClr val="2A4A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4480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4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行动建议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48920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研究巨量千川 &amp; 巨量云图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AI 分析人群包定向投放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通过购买信息差创造产品热点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36576" cy="1645920"/>
          </a:xfrm>
          <a:prstGeom prst="rect">
            <a:avLst/>
          </a:prstGeom>
          <a:solidFill>
            <a:srgbClr val="0A1F3D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731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11887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总结与展望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FDE —— AI 时代的超级连接者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FDE 是 AI 落地的最后一公里工程师，连接技术与商业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97280" y="3291840"/>
            <a:ext cx="10058400" cy="2743"/>
          </a:xfrm>
          <a:prstGeom prst="rect">
            <a:avLst/>
          </a:prstGeom>
          <a:solidFill>
            <a:srgbClr val="4A6A8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4290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中国正处于 FDE 模式发展的窗口期，政策+需求双轮驱动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97280" y="3977640"/>
            <a:ext cx="10058400" cy="2743"/>
          </a:xfrm>
          <a:prstGeom prst="rect">
            <a:avLst/>
          </a:prstGeom>
          <a:solidFill>
            <a:srgbClr val="4A6A8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114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AI 落地本质是组织问题，需要技术、人才、流程三管齐下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97280" y="4663440"/>
            <a:ext cx="10058400" cy="2743"/>
          </a:xfrm>
          <a:prstGeom prst="rect">
            <a:avLst/>
          </a:prstGeom>
          <a:solidFill>
            <a:srgbClr val="4A6A8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8006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"翻译型人才" 将越来越稀缺——既懂业务又懂技术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97280" y="5349240"/>
            <a:ext cx="10058400" cy="2743"/>
          </a:xfrm>
          <a:prstGeom prst="rect">
            <a:avLst/>
          </a:prstGeom>
          <a:solidFill>
            <a:srgbClr val="4A6A8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4864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1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个人发展：夯实技术基础 → 结合业务场景 → 培养翻译能力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6217920"/>
            <a:ext cx="10789920" cy="4572"/>
          </a:xfrm>
          <a:prstGeom prst="rect">
            <a:avLst/>
          </a:prstGeom>
          <a:solidFill>
            <a:srgbClr val="2A4A7F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0" y="63093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A4A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「过去的门槛是技术，现在的门槛是想象力。」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2026-06-12T06:40:40Z</dcterms:created>
  <dcterms:modified xsi:type="dcterms:W3CDTF">2026-06-12T06:40:40Z</dcterms:modified>
</cp:coreProperties>
</file>